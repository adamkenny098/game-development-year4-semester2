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SLIDES_API1481129933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SLIDES_API148112993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SLIDES_API1481129933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SLIDES_API1481129933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SLIDES_API1481129933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SLIDES_API1481129933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SLIDES_API148112993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SLIDES_API148112993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SLIDES_API1481129933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SLIDES_API1481129933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SLIDES_API1481129933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SLIDES_API1481129933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SLIDES_API1481129933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SLIDES_API1481129933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SLIDES_API1481129933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SLIDES_API1481129933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SLIDES_API1481129933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SLIDES_API1481129933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SLIDES_API1481129933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SLIDES_API1481129933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SLIDES_API1481129933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SLIDES_API1481129933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SLIDES_API1481129933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SLIDES_API1481129933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4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762000" y="1905000"/>
            <a:ext cx="10668000" cy="88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200">
                <a:solidFill>
                  <a:srgbClr val="F2C94C"/>
                </a:solidFill>
              </a:rPr>
              <a:t>CA3 AI Vertical Slice</a:t>
            </a:r>
            <a:endParaRPr b="1" sz="4200">
              <a:solidFill>
                <a:srgbClr val="F2C94C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825500" y="3048000"/>
            <a:ext cx="104139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</a:rPr>
              <a:t>Tyrant AI System</a:t>
            </a:r>
            <a:endParaRPr sz="24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FFFFFF"/>
                </a:solidFill>
              </a:rPr>
              <a:t>Adam Kenny (20102588)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635000" y="6350000"/>
            <a:ext cx="10922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AAAAA"/>
                </a:solidFill>
              </a:rPr>
              <a:t>CA3 AI Vertical Slice | Tyrant Behaviour System</a:t>
            </a:r>
            <a:endParaRPr sz="1000">
              <a:solidFill>
                <a:srgbClr val="AAAAA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4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635000" y="444500"/>
            <a:ext cx="10922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2C94C"/>
                </a:solidFill>
              </a:rPr>
              <a:t>Vertical Slice Overview</a:t>
            </a:r>
            <a:endParaRPr b="1" sz="3200">
              <a:solidFill>
                <a:srgbClr val="F2C94C"/>
              </a:solidFill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889000" y="1460500"/>
            <a:ext cx="104139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Playable AI encounter built around a Tyrant-style NPC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Four-state loop: Patrol, Search, Chase, Attack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Unity NavMeshAgent handles movement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Behaviour Graph and Blackboard control decisions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Debug overlay makes the AI readable during the demo</a:t>
            </a:r>
            <a:endParaRPr sz="2100">
              <a:solidFill>
                <a:srgbClr val="FFFFFF"/>
              </a:solidFill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635000" y="6350000"/>
            <a:ext cx="10922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AAAAA"/>
                </a:solidFill>
              </a:rPr>
              <a:t>CA3 AI Vertical Slice | Tyrant Behaviour System</a:t>
            </a:r>
            <a:endParaRPr sz="1000">
              <a:solidFill>
                <a:srgbClr val="AAAAA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4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635000" y="444500"/>
            <a:ext cx="10922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2C94C"/>
                </a:solidFill>
              </a:rPr>
              <a:t>AI Architecture</a:t>
            </a:r>
            <a:endParaRPr b="1" sz="3200">
              <a:solidFill>
                <a:srgbClr val="F2C94C"/>
              </a:solidFill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889000" y="1460500"/>
            <a:ext cx="104139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Senses update Blackboard values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Brain logic chooses the active State enum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Switch State runs the matching behaviour action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NavMeshAgent executes movement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HUD displays state, perception, combat, and navigation data</a:t>
            </a:r>
            <a:endParaRPr sz="2100">
              <a:solidFill>
                <a:srgbClr val="FFFFFF"/>
              </a:solidFill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635000" y="6350000"/>
            <a:ext cx="10922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AAAAA"/>
                </a:solidFill>
              </a:rPr>
              <a:t>CA3 AI Vertical Slice | Tyrant Behaviour System</a:t>
            </a:r>
            <a:endParaRPr sz="1000">
              <a:solidFill>
                <a:srgbClr val="AAAAAA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4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635000" y="444500"/>
            <a:ext cx="10922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2C94C"/>
                </a:solidFill>
              </a:rPr>
              <a:t>Tyrant State Loop</a:t>
            </a:r>
            <a:endParaRPr b="1" sz="3200">
              <a:solidFill>
                <a:srgbClr val="F2C94C"/>
              </a:solidFill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889000" y="1460500"/>
            <a:ext cx="104139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Patrol: follows cyclic waypoints through the building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Search: investigates sound or last known player position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Chase: follows the player after visual detection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Attack: stops, faces the player, and runs attack cycle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Search returns to Patrol when memory is cleared</a:t>
            </a:r>
            <a:endParaRPr sz="2100">
              <a:solidFill>
                <a:srgbClr val="FFFFFF"/>
              </a:solidFill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635000" y="6350000"/>
            <a:ext cx="10922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AAAAA"/>
                </a:solidFill>
              </a:rPr>
              <a:t>CA3 AI Vertical Slice | Tyrant Behaviour System</a:t>
            </a:r>
            <a:endParaRPr sz="1000">
              <a:solidFill>
                <a:srgbClr val="AAAAA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4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635000" y="444500"/>
            <a:ext cx="10922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2C94C"/>
                </a:solidFill>
              </a:rPr>
              <a:t>Perception and Blackboard</a:t>
            </a:r>
            <a:endParaRPr b="1" sz="3200">
              <a:solidFill>
                <a:srgbClr val="F2C94C"/>
              </a:solidFill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889000" y="1460500"/>
            <a:ext cx="104139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Vision checks distance, field of view, and line of sight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Hearing records last heard player position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Combat sense checks range and attack eligibility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Blackboard values include CanSeePlayer, HearsNoise, CanAttack, CurrentTarget, and SearchTargetPosition</a:t>
            </a:r>
            <a:endParaRPr sz="2100">
              <a:solidFill>
                <a:srgbClr val="FFFFFF"/>
              </a:solidFill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635000" y="6350000"/>
            <a:ext cx="10922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AAAAA"/>
                </a:solidFill>
              </a:rPr>
              <a:t>CA3 AI Vertical Slice | Tyrant Behaviour System</a:t>
            </a:r>
            <a:endParaRPr sz="1000">
              <a:solidFill>
                <a:srgbClr val="AAAAAA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4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/>
        </p:nvSpPr>
        <p:spPr>
          <a:xfrm>
            <a:off x="635000" y="444500"/>
            <a:ext cx="10922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2C94C"/>
                </a:solidFill>
              </a:rPr>
              <a:t>Debug Overlay and Evidence</a:t>
            </a:r>
            <a:endParaRPr b="1" sz="3200">
              <a:solidFill>
                <a:srgbClr val="F2C94C"/>
              </a:solidFill>
            </a:endParaRPr>
          </a:p>
        </p:txBody>
      </p:sp>
      <p:sp>
        <p:nvSpPr>
          <p:cNvPr id="90" name="Google Shape;90;p18"/>
          <p:cNvSpPr txBox="1"/>
          <p:nvPr/>
        </p:nvSpPr>
        <p:spPr>
          <a:xfrm>
            <a:off x="889000" y="1460500"/>
            <a:ext cx="104139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Overlay shows current State, active branch, and task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Displays CanSeePlayer, HearsNoise, CanAttack, and IsAttacking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Shows NavMesh destination, path status, velocity, and remaining distance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Used for screenshots, testing, and video explanation</a:t>
            </a:r>
            <a:endParaRPr sz="2100">
              <a:solidFill>
                <a:srgbClr val="FFFFFF"/>
              </a:solidFill>
            </a:endParaRPr>
          </a:p>
        </p:txBody>
      </p:sp>
      <p:sp>
        <p:nvSpPr>
          <p:cNvPr id="91" name="Google Shape;91;p18"/>
          <p:cNvSpPr txBox="1"/>
          <p:nvPr/>
        </p:nvSpPr>
        <p:spPr>
          <a:xfrm>
            <a:off x="635000" y="6350000"/>
            <a:ext cx="10922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AAAAA"/>
                </a:solidFill>
              </a:rPr>
              <a:t>CA3 AI Vertical Slice | Tyrant Behaviour System</a:t>
            </a:r>
            <a:endParaRPr sz="1000">
              <a:solidFill>
                <a:srgbClr val="AAAAAA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4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/>
        </p:nvSpPr>
        <p:spPr>
          <a:xfrm>
            <a:off x="635000" y="444500"/>
            <a:ext cx="10922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2C94C"/>
                </a:solidFill>
              </a:rPr>
              <a:t>Profiling and Robustness</a:t>
            </a:r>
            <a:endParaRPr b="1" sz="3200">
              <a:solidFill>
                <a:srgbClr val="F2C94C"/>
              </a:solidFill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889000" y="1460500"/>
            <a:ext cx="104139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Profiler captures taken during Patrol, Chase, and Attack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Main expected cost is perception, especially vision raycasts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Attack spikes were visible during active engagement moments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Lost sight, search recovery, and return-to-patrol behaviour were tested</a:t>
            </a:r>
            <a:endParaRPr sz="2100">
              <a:solidFill>
                <a:srgbClr val="FFFFFF"/>
              </a:solidFill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635000" y="6350000"/>
            <a:ext cx="10922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AAAAA"/>
                </a:solidFill>
              </a:rPr>
              <a:t>CA3 AI Vertical Slice | Tyrant Behaviour System</a:t>
            </a:r>
            <a:endParaRPr sz="1000">
              <a:solidFill>
                <a:srgbClr val="AAAAAA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4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/>
        </p:nvSpPr>
        <p:spPr>
          <a:xfrm>
            <a:off x="635000" y="444500"/>
            <a:ext cx="10922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2C94C"/>
                </a:solidFill>
              </a:rPr>
              <a:t>Unity Implementation</a:t>
            </a:r>
            <a:endParaRPr b="1" sz="3200">
              <a:solidFill>
                <a:srgbClr val="F2C94C"/>
              </a:solidFill>
            </a:endParaRPr>
          </a:p>
        </p:txBody>
      </p:sp>
      <p:sp>
        <p:nvSpPr>
          <p:cNvPr id="104" name="Google Shape;104;p20"/>
          <p:cNvSpPr txBox="1"/>
          <p:nvPr/>
        </p:nvSpPr>
        <p:spPr>
          <a:xfrm>
            <a:off x="889000" y="1460500"/>
            <a:ext cx="104139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Unity AI Navigation provides NavMesh movement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Unity Behaviour Graph provides visual decision structure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Blackboard variables store perception and state data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C# actions handle sensing, movement, search, and attack behaviour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Unity was flexible but required careful manual integration</a:t>
            </a:r>
            <a:endParaRPr sz="2100">
              <a:solidFill>
                <a:srgbClr val="FFFFFF"/>
              </a:solidFill>
            </a:endParaRPr>
          </a:p>
        </p:txBody>
      </p:sp>
      <p:sp>
        <p:nvSpPr>
          <p:cNvPr id="105" name="Google Shape;105;p20"/>
          <p:cNvSpPr txBox="1"/>
          <p:nvPr/>
        </p:nvSpPr>
        <p:spPr>
          <a:xfrm>
            <a:off x="635000" y="6350000"/>
            <a:ext cx="10922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AAAAA"/>
                </a:solidFill>
              </a:rPr>
              <a:t>CA3 AI Vertical Slice | Tyrant Behaviour System</a:t>
            </a:r>
            <a:endParaRPr sz="1000">
              <a:solidFill>
                <a:srgbClr val="AAAAAA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4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/>
        </p:nvSpPr>
        <p:spPr>
          <a:xfrm>
            <a:off x="635000" y="444500"/>
            <a:ext cx="10922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2C94C"/>
                </a:solidFill>
              </a:rPr>
              <a:t>Unity vs Unreal Engine 5</a:t>
            </a:r>
            <a:endParaRPr b="1" sz="3200">
              <a:solidFill>
                <a:srgbClr val="F2C94C"/>
              </a:solidFill>
            </a:endParaRPr>
          </a:p>
        </p:txBody>
      </p:sp>
      <p:sp>
        <p:nvSpPr>
          <p:cNvPr id="111" name="Google Shape;111;p21"/>
          <p:cNvSpPr txBox="1"/>
          <p:nvPr/>
        </p:nvSpPr>
        <p:spPr>
          <a:xfrm>
            <a:off x="889000" y="1460500"/>
            <a:ext cx="104139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Unity: flexible component-based workflow with custom C# actions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Unreal: more opinionated AI stack with Behaviour Trees, Blackboard, EQS, and StateTree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Unreal appears stronger for standardised visual AI authoring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Unity suited this project because the AI could be rebuilt quickly around a lightweight custom structure</a:t>
            </a:r>
            <a:endParaRPr sz="2100">
              <a:solidFill>
                <a:srgbClr val="FFFFFF"/>
              </a:solidFill>
            </a:endParaRPr>
          </a:p>
        </p:txBody>
      </p:sp>
      <p:sp>
        <p:nvSpPr>
          <p:cNvPr id="112" name="Google Shape;112;p21"/>
          <p:cNvSpPr txBox="1"/>
          <p:nvPr/>
        </p:nvSpPr>
        <p:spPr>
          <a:xfrm>
            <a:off x="635000" y="6350000"/>
            <a:ext cx="10922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AAAAA"/>
                </a:solidFill>
              </a:rPr>
              <a:t>CA3 AI Vertical Slice | Tyrant Behaviour System</a:t>
            </a:r>
            <a:endParaRPr sz="1000">
              <a:solidFill>
                <a:srgbClr val="AAAAAA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4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/>
        </p:nvSpPr>
        <p:spPr>
          <a:xfrm>
            <a:off x="635000" y="444500"/>
            <a:ext cx="10922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2C94C"/>
                </a:solidFill>
              </a:rPr>
              <a:t>AI Beyond Games</a:t>
            </a:r>
            <a:endParaRPr b="1" sz="3200">
              <a:solidFill>
                <a:srgbClr val="F2C94C"/>
              </a:solidFill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889000" y="1460500"/>
            <a:ext cx="104139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Military training uses serious games for repeatable tactical scenarios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Industrial training uses simulation to practise safety decisions without real-world danger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Training AI needs fidelity, repeatability, logging, and explainability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This differs from commercial games, where believability and player experience are usually the main priority</a:t>
            </a:r>
            <a:endParaRPr sz="2100">
              <a:solidFill>
                <a:srgbClr val="FFFFFF"/>
              </a:solidFill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635000" y="6350000"/>
            <a:ext cx="10922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AAAAA"/>
                </a:solidFill>
              </a:rPr>
              <a:t>CA3 AI Vertical Slice | Tyrant Behaviour System</a:t>
            </a:r>
            <a:endParaRPr sz="1000">
              <a:solidFill>
                <a:srgbClr val="AAAAAA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4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/>
        </p:nvSpPr>
        <p:spPr>
          <a:xfrm>
            <a:off x="635000" y="444500"/>
            <a:ext cx="10922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2C94C"/>
                </a:solidFill>
              </a:rPr>
              <a:t>Reflection: CA1 to CA3</a:t>
            </a:r>
            <a:endParaRPr b="1" sz="3200">
              <a:solidFill>
                <a:srgbClr val="F2C94C"/>
              </a:solidFill>
            </a:endParaRPr>
          </a:p>
        </p:txBody>
      </p:sp>
      <p:sp>
        <p:nvSpPr>
          <p:cNvPr id="125" name="Google Shape;125;p23"/>
          <p:cNvSpPr txBox="1"/>
          <p:nvPr/>
        </p:nvSpPr>
        <p:spPr>
          <a:xfrm>
            <a:off x="889000" y="1460500"/>
            <a:ext cx="104139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CA1 focused on navigation and simple state logic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CA2 introduced Behaviour Graph and perception ideas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CA3 forced the systems to work together as one readable AI encounter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The biggest improvement was cutting legacy behaviour and rebuilding around a cleaner Tyrant design</a:t>
            </a:r>
            <a:endParaRPr sz="2100">
              <a:solidFill>
                <a:srgbClr val="FFFFFF"/>
              </a:solidFill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635000" y="6350000"/>
            <a:ext cx="10922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AAAAA"/>
                </a:solidFill>
              </a:rPr>
              <a:t>CA3 AI Vertical Slice | Tyrant Behaviour System</a:t>
            </a:r>
            <a:endParaRPr sz="1000">
              <a:solidFill>
                <a:srgbClr val="AAAAAA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4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/>
        </p:nvSpPr>
        <p:spPr>
          <a:xfrm>
            <a:off x="635000" y="444500"/>
            <a:ext cx="10922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2C94C"/>
                </a:solidFill>
              </a:rPr>
              <a:t>What I Would Improve</a:t>
            </a:r>
            <a:endParaRPr b="1" sz="3200">
              <a:solidFill>
                <a:srgbClr val="F2C94C"/>
              </a:solidFill>
            </a:endParaRPr>
          </a:p>
        </p:txBody>
      </p:sp>
      <p:sp>
        <p:nvSpPr>
          <p:cNvPr id="132" name="Google Shape;132;p24"/>
          <p:cNvSpPr txBox="1"/>
          <p:nvPr/>
        </p:nvSpPr>
        <p:spPr>
          <a:xfrm>
            <a:off x="889000" y="1460500"/>
            <a:ext cx="104139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Move more behaviour tuning into reusable data/config assets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Add better search patterns rather than rotating in place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Improve animation support for attack and movement feedback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Add stronger automated testing for Blackboard state transitions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Keep the same clean four-state structure</a:t>
            </a:r>
            <a:endParaRPr sz="2100">
              <a:solidFill>
                <a:srgbClr val="FFFFFF"/>
              </a:solidFill>
            </a:endParaRPr>
          </a:p>
        </p:txBody>
      </p:sp>
      <p:sp>
        <p:nvSpPr>
          <p:cNvPr id="133" name="Google Shape;133;p24"/>
          <p:cNvSpPr txBox="1"/>
          <p:nvPr/>
        </p:nvSpPr>
        <p:spPr>
          <a:xfrm>
            <a:off x="635000" y="6350000"/>
            <a:ext cx="10922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AAAAA"/>
                </a:solidFill>
              </a:rPr>
              <a:t>CA3 AI Vertical Slice | Tyrant Behaviour System</a:t>
            </a:r>
            <a:endParaRPr sz="1000">
              <a:solidFill>
                <a:srgbClr val="AAAAAA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1014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5"/>
          <p:cNvSpPr txBox="1"/>
          <p:nvPr/>
        </p:nvSpPr>
        <p:spPr>
          <a:xfrm>
            <a:off x="635000" y="444500"/>
            <a:ext cx="109221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200">
                <a:solidFill>
                  <a:srgbClr val="F2C94C"/>
                </a:solidFill>
              </a:rPr>
              <a:t>Closing</a:t>
            </a:r>
            <a:endParaRPr b="1" sz="3200">
              <a:solidFill>
                <a:srgbClr val="F2C94C"/>
              </a:solidFill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889000" y="1460500"/>
            <a:ext cx="104139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The final vertical slice demonstrates a complete AI loop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Perception drives Blackboard values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Blackboard values drive state decisions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State decisions drive NavMesh movement and attack behaviour</a:t>
            </a:r>
            <a:endParaRPr sz="2100">
              <a:solidFill>
                <a:srgbClr val="FF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rgbClr val="FFFFFF"/>
                </a:solidFill>
              </a:rPr>
              <a:t>• The debug overlay and profiler evidence make the system explainable</a:t>
            </a:r>
            <a:endParaRPr sz="2100">
              <a:solidFill>
                <a:srgbClr val="FFFFFF"/>
              </a:solidFill>
            </a:endParaRPr>
          </a:p>
        </p:txBody>
      </p:sp>
      <p:sp>
        <p:nvSpPr>
          <p:cNvPr id="140" name="Google Shape;140;p25"/>
          <p:cNvSpPr txBox="1"/>
          <p:nvPr/>
        </p:nvSpPr>
        <p:spPr>
          <a:xfrm>
            <a:off x="635000" y="6350000"/>
            <a:ext cx="10922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AAAAAA"/>
                </a:solidFill>
              </a:rPr>
              <a:t>CA3 AI Vertical Slice | Tyrant Behaviour System</a:t>
            </a:r>
            <a:endParaRPr sz="1000">
              <a:solidFill>
                <a:srgbClr val="AAAAA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